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32004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926080"/>
            <a:ext cx="41148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548640"/>
            <a:ext cx="2926080" cy="2560320"/>
          </a:xfrm>
          <a:prstGeom prst="ellipse">
            <a:avLst/>
          </a:prstGeom>
          <a:solidFill>
            <a:srgbClr val="90E0EF">
              <a:alpha val="25000"/>
            </a:srgbClr>
          </a:solidFill>
          <a:ln w="12700">
            <a:solidFill>
              <a:srgbClr val="90E0E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206240"/>
            <a:ext cx="640080" cy="64008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57200"/>
            <a:ext cx="502920" cy="502920"/>
          </a:xfrm>
          <a:prstGeom prst="ellipse">
            <a:avLst/>
          </a:prstGeom>
          <a:solidFill>
            <a:srgbClr val="0077B6">
              <a:alpha val="50000"/>
            </a:srgbClr>
          </a:solidFill>
          <a:ln w="12700">
            <a:solidFill>
              <a:srgbClr val="0077B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931920"/>
            <a:ext cx="365760" cy="365760"/>
          </a:xfrm>
          <a:prstGeom prst="ellipse">
            <a:avLst/>
          </a:prstGeom>
          <a:solidFill>
            <a:srgbClr val="03045E">
              <a:alpha val="40000"/>
            </a:srgbClr>
          </a:solidFill>
          <a:ln w="12700">
            <a:solidFill>
              <a:srgbClr val="03045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749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03045E">
              <a:alpha val="30000"/>
            </a:srgbClr>
          </a:solidFill>
          <a:ln w="12700">
            <a:solidFill>
              <a:srgbClr val="03045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基于大语言模型的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自主智能体综述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2926080" y="2606040"/>
            <a:ext cx="32918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Survey of Autonomous Agents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Large Language Models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从架构设计到应用实践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560320"/>
            <a:ext cx="4114800" cy="3200400"/>
          </a:xfrm>
          <a:prstGeom prst="ellipse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2926080" cy="237744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457200"/>
            <a:ext cx="1828800" cy="1645920"/>
          </a:xfrm>
          <a:prstGeom prst="ellipse">
            <a:avLst/>
          </a:prstGeom>
          <a:solidFill>
            <a:srgbClr val="90E0EF">
              <a:alpha val="22000"/>
            </a:srgbClr>
          </a:solidFill>
          <a:ln w="12700">
            <a:solidFill>
              <a:srgbClr val="90E0E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502920"/>
            <a:ext cx="411480" cy="411480"/>
          </a:xfrm>
          <a:prstGeom prst="ellipse">
            <a:avLst/>
          </a:prstGeom>
          <a:solidFill>
            <a:srgbClr val="00B4D8">
              <a:alpha val="45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297680"/>
            <a:ext cx="320040" cy="320040"/>
          </a:xfrm>
          <a:prstGeom prst="ellipse">
            <a:avLst/>
          </a:prstGeom>
          <a:solidFill>
            <a:srgbClr val="03045E">
              <a:alpha val="35000"/>
            </a:srgbClr>
          </a:solidFill>
          <a:ln w="12700">
            <a:solidFill>
              <a:srgbClr val="03045E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1005840"/>
            <a:ext cx="7863840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325880"/>
            <a:ext cx="13716" cy="2999232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325880"/>
            <a:ext cx="54864" cy="594360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背景与概述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大语言模型与自主智能体的发展脉络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130552"/>
            <a:ext cx="54864" cy="594360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1305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2084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核心架构设计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24323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智能体的记忆、规划与推理机制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935224"/>
            <a:ext cx="54864" cy="594360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9352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28895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关键技术与方法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3236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工具使用、多智能体协作与安全对齐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739896"/>
            <a:ext cx="54864" cy="594360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3989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554480" y="36941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应用与展望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4041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典型场景、挑战与未来方向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7160"/>
            <a:ext cx="6400800" cy="24688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800" dirty="0"/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2578608"/>
            <a:ext cx="1828800" cy="18288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背景与概述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大语言模型与自主智能体的发展脉络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45720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LLM自主智能体的核心架构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41732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Profile模块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定义智能体的角色、目标与行为边界，通过角色描述文件引导智能体行为模式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41732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Memory模块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包含短期记忆（上下文窗口）与长期记忆（向量数据库），实现知识积累与经验复用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33756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Planning模块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任务分解、子目标生成、多路径推理与自我反思，支持复杂目标的逐步求解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33756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91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Action模块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工具调用（API、代码执行、数据库查询）、环境交互与反馈学习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主流自主智能体框架对比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25603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核心特点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典型应用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任务分解与自循环执行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通用任务自动化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多智能体SOP协作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软件工程协作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BabyAGI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优先级驱动的任务管理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任务调度与执行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图结构控制流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复杂Agent工作流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角色化多智能体编排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团队协作模拟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0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当前主流框架均聚焦于任务分解与协作编排，差异化体现在SOP约束与多智能体通信机制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3920" y="4663440"/>
            <a:ext cx="502920" cy="320040"/>
          </a:xfrm>
          <a:prstGeom prst="rect">
            <a:avLst>
              <a:gd name="adj" fmla="val 22857"/>
            </a:avLst>
          </a:prstGeom>
          <a:solidFill>
            <a:srgbClr val="0304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65760"/>
            <a:ext cx="457200" cy="45720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2286000"/>
            <a:ext cx="640080" cy="640080"/>
          </a:xfrm>
          <a:prstGeom prst="ellipse">
            <a:avLst/>
          </a:prstGeom>
          <a:solidFill>
            <a:srgbClr val="90E0EF">
              <a:alpha val="25000"/>
            </a:srgbClr>
          </a:solidFill>
          <a:ln w="12700">
            <a:solidFill>
              <a:srgbClr val="90E0E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657600"/>
            <a:ext cx="182880" cy="182880"/>
          </a:xfrm>
          <a:prstGeom prst="ellipse">
            <a:avLst/>
          </a:prstGeom>
          <a:solidFill>
            <a:srgbClr val="90E0EF">
              <a:alpha val="40000"/>
            </a:srgbClr>
          </a:solidFill>
          <a:ln w="12700">
            <a:solidFill>
              <a:srgbClr val="90E0E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33172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0972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800" dirty="0"/>
          </a:p>
        </p:txBody>
      </p:sp>
      <p:sp>
        <p:nvSpPr>
          <p:cNvPr id="9" name="Text 7"/>
          <p:cNvSpPr/>
          <p:nvPr/>
        </p:nvSpPr>
        <p:spPr>
          <a:xfrm>
            <a:off x="2011680" y="27432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关键技术与方法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0" y="3383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规划推理、工具使用与多智能体协作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规划与推理：智能体的核心能力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28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99032"/>
            <a:ext cx="8229600" cy="27432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344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2344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2344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09728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2344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86000" y="1389888"/>
            <a:ext cx="1828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95728" y="1353312"/>
            <a:ext cx="109728" cy="118872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1389888"/>
            <a:ext cx="1828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98848" y="1353312"/>
            <a:ext cx="109728" cy="118872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1389888"/>
            <a:ext cx="1828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1968" y="1353312"/>
            <a:ext cx="109728" cy="118872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1031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212848"/>
            <a:ext cx="192024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0120" y="21762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将复杂目标拆解为可执行的子任务序列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68880" y="21031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2212848"/>
            <a:ext cx="192024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063240" y="21762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06040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基于状态空间搜索最优执行路径（CoT、ToT等）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21031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21284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166360" y="21762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09160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根据执行反馈实时修正计划与策略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21031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221284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269480" y="21762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12280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对已完成步骤进行回顾评估，优化后续决策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0304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记忆机制与工具使用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记忆机制 (Memory)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短期记忆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利用LLM上下文窗口存储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当前任务的交互历史与中间结果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基于向量数据库持久化存储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关键信息，支持语义检索与召回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工作记忆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结合RAG技术，动态检索与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当前任务最相关的记忆片段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工具使用 (Tool Use)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937760" y="1874520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API调用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通过函数调用接口与外部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服务交互，获取实时数据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880360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代码执行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在沙箱环境中运行代码，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完成计算、分析等复杂任务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886200"/>
            <a:ext cx="365760" cy="3657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多模态交互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支持图像理解、文件处理，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扩展智能体的感知与操作边界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34840" y="1280160"/>
            <a:ext cx="0" cy="347472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应用场景与当前挑战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38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自动化编码、测试生成、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代码审查与Bug修复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自然语言驱动的数据查询、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可视化与报告自动生成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310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科学研究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84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文献综述、实验设计、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假设验证与论文辅助写作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企业运营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07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智能客服、流程自动化、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决策支持与知识管理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当前挑战与局限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937760" y="1691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幻觉与可靠性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LLM生成内容的事实准确性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仍难以保证，影响决策质量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514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长程一致性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多步任务中上下文漂移、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遗忘与计划偏离问题突出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3375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安全与对齐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3584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自主行动可能引发不可预知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的后果，安全边界难以界定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4160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成本与效率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32120" y="4407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大规模推理的算力消耗与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响应延迟制约实际部署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34840" y="1188720"/>
            <a:ext cx="0" cy="356616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077B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LLM自主智能体通过「感知-规划-记忆-行动」四层架构，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实现了从语言理解到自主任务执行的跨越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286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多智能体协作框架（AutoGPT、MetaGPT等）正在重新定义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复杂任务的自动化解决范式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3154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工具使用与长期记忆是提升智能体能力上限的关键技术，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RAG与函数调用已成为标准组件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安全对齐、幻觉控制与成本优化仍是制约大规模部署的核心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挑战，需要产学研协同攻关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7772400" cy="0"/>
          </a:xfrm>
          <a:prstGeom prst="line">
            <a:avLst/>
          </a:prstGeom>
          <a:noFill/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基于大语言模型的自主智能体综述</dc:title>
  <dc:subject>PptxGenJS Presentation</dc:subject>
  <dc:creator>AI Survey</dc:creator>
  <cp:lastModifiedBy>AI Survey</cp:lastModifiedBy>
  <cp:revision>1</cp:revision>
  <dcterms:created xsi:type="dcterms:W3CDTF">2026-05-12T16:22:15Z</dcterms:created>
  <dcterms:modified xsi:type="dcterms:W3CDTF">2026-05-12T16:22:15Z</dcterms:modified>
</cp:coreProperties>
</file>